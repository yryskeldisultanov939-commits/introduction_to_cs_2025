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9" r:id="rId4"/>
    <p:sldId id="260" r:id="rId5"/>
    <p:sldId id="261" r:id="rId6"/>
  </p:sldIdLst>
  <p:sldSz cx="9144000" cy="5143500" type="screen16x9"/>
  <p:notesSz cx="6858000" cy="9144000"/>
  <p:embeddedFontLst>
    <p:embeddedFont>
      <p:font typeface="Merriweather" panose="020B0604020202020204" charset="-52"/>
      <p:regular r:id="rId8"/>
      <p:bold r:id="rId9"/>
      <p:italic r:id="rId10"/>
      <p:boldItalic r:id="rId11"/>
    </p:embeddedFont>
    <p:embeddedFont>
      <p:font typeface="Roboto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666" y="6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b1a00ced13_0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b1a00ced13_0_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b1a00ced13_0_6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b1a00ced13_0_6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1a00ced13_0_6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b1a00ced13_0_6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1a00ced13_0_8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b1a00ced13_0_8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avLst/>
            <a:gdLst/>
            <a:ahLst/>
            <a:cxnLst/>
            <a:rect l="l" t="t" r="r" b="b"/>
            <a:pathLst>
              <a:path w="172545" h="175975" extrusionOk="0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avLst/>
            <a:gdLst/>
            <a:ahLst/>
            <a:cxnLst/>
            <a:rect l="l" t="t" r="r" b="b"/>
            <a:pathLst>
              <a:path w="172676" h="175824" extrusionOk="0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2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ubTitle" idx="1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2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body" idx="1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title" hasCustomPrompt="1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>
            <a:spLocks noGrp="1"/>
          </p:cNvSpPr>
          <p:nvPr>
            <p:ph type="body" idx="1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radigm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>
            <a:spLocks noGrp="1"/>
          </p:cNvSpPr>
          <p:nvPr>
            <p:ph type="ctrTitle"/>
          </p:nvPr>
        </p:nvSpPr>
        <p:spPr>
          <a:xfrm>
            <a:off x="510450" y="919675"/>
            <a:ext cx="8123100" cy="13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Кейсы кибератак на компании</a:t>
            </a:r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1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" sz="7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•Выполнил: Султанов Ырыскелди CS – 11 -25</a:t>
            </a:r>
            <a:endParaRPr sz="7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" sz="7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•Тема: Реальные случаи взлома компаний</a:t>
            </a:r>
            <a:endParaRPr sz="7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Facebook (Meta) — 2021</a:t>
            </a:r>
            <a:endParaRPr sz="2600"/>
          </a:p>
        </p:txBody>
      </p:sp>
      <p:sp>
        <p:nvSpPr>
          <p:cNvPr id="71" name="Google Shape;71;p14"/>
          <p:cNvSpPr txBox="1">
            <a:spLocks noGrp="1"/>
          </p:cNvSpPr>
          <p:nvPr>
            <p:ph type="body" idx="4294967295"/>
          </p:nvPr>
        </p:nvSpPr>
        <p:spPr>
          <a:xfrm>
            <a:off x="4472235" y="1274400"/>
            <a:ext cx="4166400" cy="386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32500" lnSpcReduction="20000"/>
          </a:bodyPr>
          <a:lstStyle/>
          <a:p>
            <a:r>
              <a:rPr lang="ru-RU" sz="3200" b="1" dirty="0">
                <a:solidFill>
                  <a:schemeClr val="tx1">
                    <a:lumMod val="50000"/>
                  </a:schemeClr>
                </a:solidFill>
              </a:rPr>
              <a:t>Что произошло:</a:t>
            </a:r>
            <a:r>
              <a:rPr lang="ru-RU" sz="3200" dirty="0">
                <a:solidFill>
                  <a:schemeClr val="tx1">
                    <a:lumMod val="50000"/>
                  </a:schemeClr>
                </a:solidFill>
              </a:rPr>
              <a:t/>
            </a:r>
            <a:br>
              <a:rPr lang="ru-RU" sz="3200" dirty="0">
                <a:solidFill>
                  <a:schemeClr val="tx1">
                    <a:lumMod val="50000"/>
                  </a:schemeClr>
                </a:solidFill>
              </a:rPr>
            </a:br>
            <a:r>
              <a:rPr lang="ru-RU" sz="3200" dirty="0">
                <a:solidFill>
                  <a:schemeClr val="tx1">
                    <a:lumMod val="50000"/>
                  </a:schemeClr>
                </a:solidFill>
              </a:rPr>
              <a:t>В 2021 году у компании </a:t>
            </a:r>
            <a:r>
              <a:rPr lang="ru-RU" sz="3200" dirty="0" err="1">
                <a:solidFill>
                  <a:schemeClr val="tx1">
                    <a:lumMod val="50000"/>
                  </a:schemeClr>
                </a:solidFill>
              </a:rPr>
              <a:t>Facebook</a:t>
            </a:r>
            <a:r>
              <a:rPr lang="ru-RU" sz="3200" dirty="0">
                <a:solidFill>
                  <a:schemeClr val="tx1">
                    <a:lumMod val="50000"/>
                  </a:schemeClr>
                </a:solidFill>
              </a:rPr>
              <a:t> (сейчас </a:t>
            </a:r>
            <a:r>
              <a:rPr lang="ru-RU" sz="3200" dirty="0" err="1">
                <a:solidFill>
                  <a:schemeClr val="tx1">
                    <a:lumMod val="50000"/>
                  </a:schemeClr>
                </a:solidFill>
              </a:rPr>
              <a:t>Meta</a:t>
            </a:r>
            <a:r>
              <a:rPr lang="ru-RU" sz="3200" dirty="0">
                <a:solidFill>
                  <a:schemeClr val="tx1">
                    <a:lumMod val="50000"/>
                  </a:schemeClr>
                </a:solidFill>
              </a:rPr>
              <a:t>) произошла крупная утечка данных.</a:t>
            </a:r>
            <a:br>
              <a:rPr lang="ru-RU" sz="3200" dirty="0">
                <a:solidFill>
                  <a:schemeClr val="tx1">
                    <a:lumMod val="50000"/>
                  </a:schemeClr>
                </a:solidFill>
              </a:rPr>
            </a:br>
            <a:r>
              <a:rPr lang="ru-RU" sz="3200" dirty="0">
                <a:solidFill>
                  <a:schemeClr val="tx1">
                    <a:lumMod val="50000"/>
                  </a:schemeClr>
                </a:solidFill>
              </a:rPr>
              <a:t>Из-за уязвимости в системе поиска злоумышленники получили доступ к данным </a:t>
            </a:r>
            <a:r>
              <a:rPr lang="ru-RU" sz="3200" b="1" dirty="0">
                <a:solidFill>
                  <a:schemeClr val="tx1">
                    <a:lumMod val="50000"/>
                  </a:schemeClr>
                </a:solidFill>
              </a:rPr>
              <a:t>533 миллионов пользователей</a:t>
            </a:r>
            <a:r>
              <a:rPr lang="ru-RU" sz="3200" dirty="0">
                <a:solidFill>
                  <a:schemeClr val="tx1">
                    <a:lumMod val="50000"/>
                  </a:schemeClr>
                </a:solidFill>
              </a:rPr>
              <a:t>.</a:t>
            </a:r>
          </a:p>
          <a:p>
            <a:r>
              <a:rPr lang="ru-RU" sz="3200" b="1" dirty="0">
                <a:solidFill>
                  <a:schemeClr val="tx1">
                    <a:lumMod val="50000"/>
                  </a:schemeClr>
                </a:solidFill>
              </a:rPr>
              <a:t>Какие данные украли:</a:t>
            </a:r>
            <a:r>
              <a:rPr lang="ru-RU" sz="3200" dirty="0">
                <a:solidFill>
                  <a:schemeClr val="tx1">
                    <a:lumMod val="50000"/>
                  </a:schemeClr>
                </a:solidFill>
              </a:rPr>
              <a:t/>
            </a:r>
            <a:br>
              <a:rPr lang="ru-RU" sz="3200" dirty="0">
                <a:solidFill>
                  <a:schemeClr val="tx1">
                    <a:lumMod val="50000"/>
                  </a:schemeClr>
                </a:solidFill>
              </a:rPr>
            </a:br>
            <a:r>
              <a:rPr lang="ru-RU" sz="3200" dirty="0">
                <a:solidFill>
                  <a:schemeClr val="tx1">
                    <a:lumMod val="50000"/>
                  </a:schemeClr>
                </a:solidFill>
              </a:rPr>
              <a:t>– номера телефонов</a:t>
            </a:r>
            <a:br>
              <a:rPr lang="ru-RU" sz="3200" dirty="0">
                <a:solidFill>
                  <a:schemeClr val="tx1">
                    <a:lumMod val="50000"/>
                  </a:schemeClr>
                </a:solidFill>
              </a:rPr>
            </a:br>
            <a:r>
              <a:rPr lang="ru-RU" sz="3200" dirty="0">
                <a:solidFill>
                  <a:schemeClr val="tx1">
                    <a:lumMod val="50000"/>
                  </a:schemeClr>
                </a:solidFill>
              </a:rPr>
              <a:t>– </a:t>
            </a:r>
            <a:r>
              <a:rPr lang="ru-RU" sz="3200" dirty="0" err="1">
                <a:solidFill>
                  <a:schemeClr val="tx1">
                    <a:lumMod val="50000"/>
                  </a:schemeClr>
                </a:solidFill>
              </a:rPr>
              <a:t>email</a:t>
            </a:r>
            <a:r>
              <a:rPr lang="ru-RU" sz="3200" dirty="0">
                <a:solidFill>
                  <a:schemeClr val="tx1">
                    <a:lumMod val="50000"/>
                  </a:schemeClr>
                </a:solidFill>
              </a:rPr>
              <a:t>-адреса</a:t>
            </a:r>
            <a:br>
              <a:rPr lang="ru-RU" sz="3200" dirty="0">
                <a:solidFill>
                  <a:schemeClr val="tx1">
                    <a:lumMod val="50000"/>
                  </a:schemeClr>
                </a:solidFill>
              </a:rPr>
            </a:br>
            <a:r>
              <a:rPr lang="ru-RU" sz="3200" dirty="0">
                <a:solidFill>
                  <a:schemeClr val="tx1">
                    <a:lumMod val="50000"/>
                  </a:schemeClr>
                </a:solidFill>
              </a:rPr>
              <a:t>– имена и фамилии</a:t>
            </a:r>
            <a:br>
              <a:rPr lang="ru-RU" sz="3200" dirty="0">
                <a:solidFill>
                  <a:schemeClr val="tx1">
                    <a:lumMod val="50000"/>
                  </a:schemeClr>
                </a:solidFill>
              </a:rPr>
            </a:br>
            <a:r>
              <a:rPr lang="ru-RU" sz="3200" dirty="0">
                <a:solidFill>
                  <a:schemeClr val="tx1">
                    <a:lumMod val="50000"/>
                  </a:schemeClr>
                </a:solidFill>
              </a:rPr>
              <a:t>– даты рождения</a:t>
            </a:r>
          </a:p>
          <a:p>
            <a:r>
              <a:rPr lang="ru-RU" sz="3200" b="1" dirty="0">
                <a:solidFill>
                  <a:schemeClr val="tx1">
                    <a:lumMod val="50000"/>
                  </a:schemeClr>
                </a:solidFill>
              </a:rPr>
              <a:t>Кто пострадал:</a:t>
            </a:r>
            <a:r>
              <a:rPr lang="ru-RU" sz="3200" dirty="0">
                <a:solidFill>
                  <a:schemeClr val="tx1">
                    <a:lumMod val="50000"/>
                  </a:schemeClr>
                </a:solidFill>
              </a:rPr>
              <a:t/>
            </a:r>
            <a:br>
              <a:rPr lang="ru-RU" sz="3200" dirty="0">
                <a:solidFill>
                  <a:schemeClr val="tx1">
                    <a:lumMod val="50000"/>
                  </a:schemeClr>
                </a:solidFill>
              </a:rPr>
            </a:br>
            <a:r>
              <a:rPr lang="ru-RU" sz="3200" dirty="0">
                <a:solidFill>
                  <a:schemeClr val="tx1">
                    <a:lumMod val="50000"/>
                  </a:schemeClr>
                </a:solidFill>
              </a:rPr>
              <a:t>Пострадали </a:t>
            </a:r>
            <a:r>
              <a:rPr lang="ru-RU" sz="3200" b="1" dirty="0">
                <a:solidFill>
                  <a:schemeClr val="tx1">
                    <a:lumMod val="50000"/>
                  </a:schemeClr>
                </a:solidFill>
              </a:rPr>
              <a:t>обычные пользователи </a:t>
            </a:r>
            <a:r>
              <a:rPr lang="ru-RU" sz="3200" b="1" dirty="0" err="1">
                <a:solidFill>
                  <a:schemeClr val="tx1">
                    <a:lumMod val="50000"/>
                  </a:schemeClr>
                </a:solidFill>
              </a:rPr>
              <a:t>Facebook</a:t>
            </a:r>
            <a:r>
              <a:rPr lang="ru-RU" sz="3200" dirty="0">
                <a:solidFill>
                  <a:schemeClr val="tx1">
                    <a:lumMod val="50000"/>
                  </a:schemeClr>
                </a:solidFill>
              </a:rPr>
              <a:t> по всему миру.</a:t>
            </a:r>
            <a:br>
              <a:rPr lang="ru-RU" sz="3200" dirty="0">
                <a:solidFill>
                  <a:schemeClr val="tx1">
                    <a:lumMod val="50000"/>
                  </a:schemeClr>
                </a:solidFill>
              </a:rPr>
            </a:br>
            <a:r>
              <a:rPr lang="ru-RU" sz="3200" dirty="0">
                <a:solidFill>
                  <a:schemeClr val="tx1">
                    <a:lumMod val="50000"/>
                  </a:schemeClr>
                </a:solidFill>
              </a:rPr>
              <a:t>Многие начали получать мошеннические звонки, SMS и </a:t>
            </a:r>
            <a:r>
              <a:rPr lang="ru-RU" sz="3200" dirty="0" err="1">
                <a:solidFill>
                  <a:schemeClr val="tx1">
                    <a:lumMod val="50000"/>
                  </a:schemeClr>
                </a:solidFill>
              </a:rPr>
              <a:t>фишинговые</a:t>
            </a:r>
            <a:r>
              <a:rPr lang="ru-RU" sz="3200" dirty="0">
                <a:solidFill>
                  <a:schemeClr val="tx1">
                    <a:lumMod val="50000"/>
                  </a:schemeClr>
                </a:solidFill>
              </a:rPr>
              <a:t> письма.</a:t>
            </a:r>
          </a:p>
          <a:p>
            <a:r>
              <a:rPr lang="ru-RU" sz="3200" b="1" dirty="0">
                <a:solidFill>
                  <a:schemeClr val="tx1">
                    <a:lumMod val="50000"/>
                  </a:schemeClr>
                </a:solidFill>
              </a:rPr>
              <a:t>Последствия:</a:t>
            </a:r>
            <a:r>
              <a:rPr lang="ru-RU" sz="3200" dirty="0">
                <a:solidFill>
                  <a:schemeClr val="tx1">
                    <a:lumMod val="50000"/>
                  </a:schemeClr>
                </a:solidFill>
              </a:rPr>
              <a:t/>
            </a:r>
            <a:br>
              <a:rPr lang="ru-RU" sz="3200" dirty="0">
                <a:solidFill>
                  <a:schemeClr val="tx1">
                    <a:lumMod val="50000"/>
                  </a:schemeClr>
                </a:solidFill>
              </a:rPr>
            </a:br>
            <a:r>
              <a:rPr lang="ru-RU" sz="3200" dirty="0">
                <a:solidFill>
                  <a:schemeClr val="tx1">
                    <a:lumMod val="50000"/>
                  </a:schemeClr>
                </a:solidFill>
              </a:rPr>
              <a:t>– рост мошенничества</a:t>
            </a:r>
            <a:br>
              <a:rPr lang="ru-RU" sz="3200" dirty="0">
                <a:solidFill>
                  <a:schemeClr val="tx1">
                    <a:lumMod val="50000"/>
                  </a:schemeClr>
                </a:solidFill>
              </a:rPr>
            </a:br>
            <a:r>
              <a:rPr lang="ru-RU" sz="3200" dirty="0">
                <a:solidFill>
                  <a:schemeClr val="tx1">
                    <a:lumMod val="50000"/>
                  </a:schemeClr>
                </a:solidFill>
              </a:rPr>
              <a:t>– потеря доверия к компании</a:t>
            </a:r>
            <a:br>
              <a:rPr lang="ru-RU" sz="3200" dirty="0">
                <a:solidFill>
                  <a:schemeClr val="tx1">
                    <a:lumMod val="50000"/>
                  </a:schemeClr>
                </a:solidFill>
              </a:rPr>
            </a:br>
            <a:r>
              <a:rPr lang="ru-RU" sz="3200" dirty="0">
                <a:solidFill>
                  <a:schemeClr val="tx1">
                    <a:lumMod val="50000"/>
                  </a:schemeClr>
                </a:solidFill>
              </a:rPr>
              <a:t>– усиление внимания к защите данных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72" name="Google Shape;72;p14" title="Дизайн без названия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" y="1274500"/>
            <a:ext cx="4339901" cy="216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474720" y="0"/>
            <a:ext cx="5669280" cy="8780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3" name="Google Shape;83;p16"/>
          <p:cNvSpPr txBox="1">
            <a:spLocks noGrp="1"/>
          </p:cNvSpPr>
          <p:nvPr>
            <p:ph type="title"/>
          </p:nvPr>
        </p:nvSpPr>
        <p:spPr>
          <a:xfrm>
            <a:off x="3809099" y="0"/>
            <a:ext cx="5334900" cy="87800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Yahoo — 2013–2014</a:t>
            </a:r>
            <a:endParaRPr dirty="0"/>
          </a:p>
        </p:txBody>
      </p:sp>
      <p:sp>
        <p:nvSpPr>
          <p:cNvPr id="84" name="Google Shape;84;p16"/>
          <p:cNvSpPr txBox="1">
            <a:spLocks noGrp="1"/>
          </p:cNvSpPr>
          <p:nvPr>
            <p:ph type="body" idx="1"/>
          </p:nvPr>
        </p:nvSpPr>
        <p:spPr>
          <a:xfrm>
            <a:off x="0" y="782319"/>
            <a:ext cx="4502100" cy="43611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32500" lnSpcReduction="20000"/>
          </a:bodyPr>
          <a:lstStyle/>
          <a:p>
            <a:r>
              <a:rPr lang="ru-RU" sz="4400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Что </a:t>
            </a:r>
            <a:r>
              <a:rPr lang="ru-RU" sz="4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произошло:</a:t>
            </a:r>
            <a:r>
              <a:rPr lang="ru-RU" sz="4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/>
            </a:r>
            <a:br>
              <a:rPr lang="ru-RU" sz="4400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ru-RU" sz="4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В 2013–2014 годах компания </a:t>
            </a:r>
            <a:r>
              <a:rPr lang="ru-RU" sz="44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Yahoo</a:t>
            </a:r>
            <a:r>
              <a:rPr lang="ru-RU" sz="4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подверглась крупнейшему взлому в истории интернета.</a:t>
            </a:r>
            <a:br>
              <a:rPr lang="ru-RU" sz="4400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ru-RU" sz="4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Были взломаны </a:t>
            </a:r>
            <a:r>
              <a:rPr lang="ru-RU" sz="4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около 3 миллиардов аккаунтов</a:t>
            </a:r>
            <a:r>
              <a:rPr lang="ru-RU" sz="4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.</a:t>
            </a:r>
          </a:p>
          <a:p>
            <a:r>
              <a:rPr lang="ru-RU" sz="4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Какие данные украли:</a:t>
            </a:r>
            <a:r>
              <a:rPr lang="ru-RU" sz="4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/>
            </a:r>
            <a:br>
              <a:rPr lang="ru-RU" sz="4400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ru-RU" sz="4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– </a:t>
            </a:r>
            <a:r>
              <a:rPr lang="ru-RU" sz="44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email</a:t>
            </a:r>
            <a:r>
              <a:rPr lang="ru-RU" sz="4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-адреса</a:t>
            </a:r>
            <a:br>
              <a:rPr lang="ru-RU" sz="4400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ru-RU" sz="4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– пароли</a:t>
            </a:r>
            <a:br>
              <a:rPr lang="ru-RU" sz="4400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ru-RU" sz="4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– секретные вопросы и ответы</a:t>
            </a:r>
          </a:p>
          <a:p>
            <a:r>
              <a:rPr lang="ru-RU" sz="4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Кто пострадал:</a:t>
            </a:r>
            <a:r>
              <a:rPr lang="ru-RU" sz="4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/>
            </a:r>
            <a:br>
              <a:rPr lang="ru-RU" sz="4400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ru-RU" sz="4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Пострадали </a:t>
            </a:r>
            <a:r>
              <a:rPr lang="ru-RU" sz="4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все пользователи </a:t>
            </a:r>
            <a:r>
              <a:rPr lang="ru-RU" sz="44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Yahoo</a:t>
            </a:r>
            <a:r>
              <a:rPr lang="ru-RU" sz="4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, у которых были аккаунты в тот период.</a:t>
            </a:r>
            <a:br>
              <a:rPr lang="ru-RU" sz="4400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ru-RU" sz="4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Многие аккаунты позже были взломаны повторно на других сайтах.</a:t>
            </a:r>
          </a:p>
          <a:p>
            <a:r>
              <a:rPr lang="ru-RU" sz="4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Последствия:</a:t>
            </a:r>
            <a:r>
              <a:rPr lang="ru-RU" sz="4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/>
            </a:r>
            <a:br>
              <a:rPr lang="ru-RU" sz="4400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ru-RU" sz="4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– сильное падение репутации</a:t>
            </a:r>
            <a:br>
              <a:rPr lang="ru-RU" sz="4400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ru-RU" sz="4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– снижение стоимости компании</a:t>
            </a:r>
            <a:br>
              <a:rPr lang="ru-RU" sz="4400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ru-RU" sz="4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– </a:t>
            </a:r>
            <a:r>
              <a:rPr lang="ru-RU" sz="44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Yahoo</a:t>
            </a:r>
            <a:r>
              <a:rPr lang="ru-RU" sz="4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была продана дешевле, чем планировалось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4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" name="Google Shape;85;p16" title="yahoo-446971_128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0300" y="1511825"/>
            <a:ext cx="4293699" cy="22206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Sony PlayStation — 2011—</a:t>
            </a:r>
            <a:endParaRPr sz="1700"/>
          </a:p>
        </p:txBody>
      </p:sp>
      <p:sp>
        <p:nvSpPr>
          <p:cNvPr id="91" name="Google Shape;91;p17"/>
          <p:cNvSpPr txBox="1">
            <a:spLocks noGrp="1"/>
          </p:cNvSpPr>
          <p:nvPr>
            <p:ph type="body" idx="1"/>
          </p:nvPr>
        </p:nvSpPr>
        <p:spPr>
          <a:xfrm>
            <a:off x="4612576" y="500925"/>
            <a:ext cx="4166400" cy="36138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r>
              <a:rPr lang="ru-RU" sz="5600" dirty="0">
                <a:solidFill>
                  <a:schemeClr val="tx1">
                    <a:lumMod val="50000"/>
                  </a:schemeClr>
                </a:solidFill>
              </a:rPr>
              <a:t>В 2011 году хакеры взломали сеть </a:t>
            </a:r>
            <a:r>
              <a:rPr lang="ru-RU" sz="5600" dirty="0" err="1">
                <a:solidFill>
                  <a:schemeClr val="tx1">
                    <a:lumMod val="50000"/>
                  </a:schemeClr>
                </a:solidFill>
              </a:rPr>
              <a:t>PlayStation</a:t>
            </a:r>
            <a:r>
              <a:rPr lang="ru-RU" sz="5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ru-RU" sz="5600" dirty="0" err="1">
                <a:solidFill>
                  <a:schemeClr val="tx1">
                    <a:lumMod val="50000"/>
                  </a:schemeClr>
                </a:solidFill>
              </a:rPr>
              <a:t>Network</a:t>
            </a:r>
            <a:r>
              <a:rPr lang="ru-RU" sz="5600" dirty="0">
                <a:solidFill>
                  <a:schemeClr val="tx1">
                    <a:lumMod val="50000"/>
                  </a:schemeClr>
                </a:solidFill>
              </a:rPr>
              <a:t>.</a:t>
            </a:r>
            <a:br>
              <a:rPr lang="ru-RU" sz="5600" dirty="0">
                <a:solidFill>
                  <a:schemeClr val="tx1">
                    <a:lumMod val="50000"/>
                  </a:schemeClr>
                </a:solidFill>
              </a:rPr>
            </a:br>
            <a:r>
              <a:rPr lang="ru-RU" sz="5600" dirty="0">
                <a:solidFill>
                  <a:schemeClr val="tx1">
                    <a:lumMod val="50000"/>
                  </a:schemeClr>
                </a:solidFill>
              </a:rPr>
              <a:t>Доступ к сервису был отключён </a:t>
            </a:r>
            <a:r>
              <a:rPr lang="ru-RU" sz="5600" b="1" dirty="0">
                <a:solidFill>
                  <a:schemeClr val="tx1">
                    <a:lumMod val="50000"/>
                  </a:schemeClr>
                </a:solidFill>
              </a:rPr>
              <a:t>на 23 дня</a:t>
            </a:r>
            <a:r>
              <a:rPr lang="ru-RU" sz="5600" dirty="0">
                <a:solidFill>
                  <a:schemeClr val="tx1">
                    <a:lumMod val="50000"/>
                  </a:schemeClr>
                </a:solidFill>
              </a:rPr>
              <a:t>, а данные </a:t>
            </a:r>
            <a:r>
              <a:rPr lang="ru-RU" sz="5600" b="1" dirty="0">
                <a:solidFill>
                  <a:schemeClr val="tx1">
                    <a:lumMod val="50000"/>
                  </a:schemeClr>
                </a:solidFill>
              </a:rPr>
              <a:t>77 миллионов аккаунтов</a:t>
            </a:r>
            <a:r>
              <a:rPr lang="ru-RU" sz="5600" dirty="0">
                <a:solidFill>
                  <a:schemeClr val="tx1">
                    <a:lumMod val="50000"/>
                  </a:schemeClr>
                </a:solidFill>
              </a:rPr>
              <a:t> были украдены.</a:t>
            </a:r>
          </a:p>
          <a:p>
            <a:r>
              <a:rPr lang="ru-RU" sz="5600" b="1" dirty="0">
                <a:solidFill>
                  <a:schemeClr val="tx1">
                    <a:lumMod val="50000"/>
                  </a:schemeClr>
                </a:solidFill>
              </a:rPr>
              <a:t>Какие данные украли:</a:t>
            </a:r>
            <a:r>
              <a:rPr lang="ru-RU" sz="5600" dirty="0">
                <a:solidFill>
                  <a:schemeClr val="tx1">
                    <a:lumMod val="50000"/>
                  </a:schemeClr>
                </a:solidFill>
              </a:rPr>
              <a:t/>
            </a:r>
            <a:br>
              <a:rPr lang="ru-RU" sz="5600" dirty="0">
                <a:solidFill>
                  <a:schemeClr val="tx1">
                    <a:lumMod val="50000"/>
                  </a:schemeClr>
                </a:solidFill>
              </a:rPr>
            </a:br>
            <a:r>
              <a:rPr lang="ru-RU" sz="5600" dirty="0">
                <a:solidFill>
                  <a:schemeClr val="tx1">
                    <a:lumMod val="50000"/>
                  </a:schemeClr>
                </a:solidFill>
              </a:rPr>
              <a:t>– имена пользователей</a:t>
            </a:r>
            <a:br>
              <a:rPr lang="ru-RU" sz="5600" dirty="0">
                <a:solidFill>
                  <a:schemeClr val="tx1">
                    <a:lumMod val="50000"/>
                  </a:schemeClr>
                </a:solidFill>
              </a:rPr>
            </a:br>
            <a:r>
              <a:rPr lang="ru-RU" sz="5600" dirty="0">
                <a:solidFill>
                  <a:schemeClr val="tx1">
                    <a:lumMod val="50000"/>
                  </a:schemeClr>
                </a:solidFill>
              </a:rPr>
              <a:t>– пароли</a:t>
            </a:r>
            <a:br>
              <a:rPr lang="ru-RU" sz="5600" dirty="0">
                <a:solidFill>
                  <a:schemeClr val="tx1">
                    <a:lumMod val="50000"/>
                  </a:schemeClr>
                </a:solidFill>
              </a:rPr>
            </a:br>
            <a:r>
              <a:rPr lang="ru-RU" sz="5600" dirty="0">
                <a:solidFill>
                  <a:schemeClr val="tx1">
                    <a:lumMod val="50000"/>
                  </a:schemeClr>
                </a:solidFill>
              </a:rPr>
              <a:t>– </a:t>
            </a:r>
            <a:r>
              <a:rPr lang="ru-RU" sz="5600" dirty="0" err="1">
                <a:solidFill>
                  <a:schemeClr val="tx1">
                    <a:lumMod val="50000"/>
                  </a:schemeClr>
                </a:solidFill>
              </a:rPr>
              <a:t>email</a:t>
            </a:r>
            <a:r>
              <a:rPr lang="ru-RU" sz="5600" dirty="0">
                <a:solidFill>
                  <a:schemeClr val="tx1">
                    <a:lumMod val="50000"/>
                  </a:schemeClr>
                </a:solidFill>
              </a:rPr>
              <a:t>-адреса</a:t>
            </a:r>
            <a:br>
              <a:rPr lang="ru-RU" sz="5600" dirty="0">
                <a:solidFill>
                  <a:schemeClr val="tx1">
                    <a:lumMod val="50000"/>
                  </a:schemeClr>
                </a:solidFill>
              </a:rPr>
            </a:br>
            <a:r>
              <a:rPr lang="ru-RU" sz="5600" dirty="0">
                <a:solidFill>
                  <a:schemeClr val="tx1">
                    <a:lumMod val="50000"/>
                  </a:schemeClr>
                </a:solidFill>
              </a:rPr>
              <a:t>– данные аккаунтов </a:t>
            </a:r>
            <a:r>
              <a:rPr lang="ru-RU" sz="5600" dirty="0" err="1">
                <a:solidFill>
                  <a:schemeClr val="tx1">
                    <a:lumMod val="50000"/>
                  </a:schemeClr>
                </a:solidFill>
              </a:rPr>
              <a:t>PlayStation</a:t>
            </a:r>
            <a:endParaRPr lang="ru-RU" sz="56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ru-RU" sz="5600" b="1" dirty="0">
                <a:solidFill>
                  <a:schemeClr val="tx1">
                    <a:lumMod val="50000"/>
                  </a:schemeClr>
                </a:solidFill>
              </a:rPr>
              <a:t>Кто пострадал:</a:t>
            </a:r>
            <a:r>
              <a:rPr lang="ru-RU" sz="5600" dirty="0">
                <a:solidFill>
                  <a:schemeClr val="tx1">
                    <a:lumMod val="50000"/>
                  </a:schemeClr>
                </a:solidFill>
              </a:rPr>
              <a:t/>
            </a:r>
            <a:br>
              <a:rPr lang="ru-RU" sz="5600" dirty="0">
                <a:solidFill>
                  <a:schemeClr val="tx1">
                    <a:lumMod val="50000"/>
                  </a:schemeClr>
                </a:solidFill>
              </a:rPr>
            </a:br>
            <a:r>
              <a:rPr lang="ru-RU" sz="5600" dirty="0">
                <a:solidFill>
                  <a:schemeClr val="tx1">
                    <a:lumMod val="50000"/>
                  </a:schemeClr>
                </a:solidFill>
              </a:rPr>
              <a:t>Пострадали </a:t>
            </a:r>
            <a:r>
              <a:rPr lang="ru-RU" sz="5600" b="1" dirty="0">
                <a:solidFill>
                  <a:schemeClr val="tx1">
                    <a:lumMod val="50000"/>
                  </a:schemeClr>
                </a:solidFill>
              </a:rPr>
              <a:t>игроки </a:t>
            </a:r>
            <a:r>
              <a:rPr lang="ru-RU" sz="5600" b="1" dirty="0" err="1">
                <a:solidFill>
                  <a:schemeClr val="tx1">
                    <a:lumMod val="50000"/>
                  </a:schemeClr>
                </a:solidFill>
              </a:rPr>
              <a:t>PlayStation</a:t>
            </a:r>
            <a:r>
              <a:rPr lang="ru-RU" sz="5600" dirty="0">
                <a:solidFill>
                  <a:schemeClr val="tx1">
                    <a:lumMod val="50000"/>
                  </a:schemeClr>
                </a:solidFill>
              </a:rPr>
              <a:t> по всему миру.</a:t>
            </a:r>
            <a:br>
              <a:rPr lang="ru-RU" sz="5600" dirty="0">
                <a:solidFill>
                  <a:schemeClr val="tx1">
                    <a:lumMod val="50000"/>
                  </a:schemeClr>
                </a:solidFill>
              </a:rPr>
            </a:br>
            <a:r>
              <a:rPr lang="ru-RU" sz="5600" dirty="0">
                <a:solidFill>
                  <a:schemeClr val="tx1">
                    <a:lumMod val="50000"/>
                  </a:schemeClr>
                </a:solidFill>
              </a:rPr>
              <a:t>Люди не могли играть онлайн и боялись за безопасность своих данных.</a:t>
            </a:r>
          </a:p>
          <a:p>
            <a:r>
              <a:rPr lang="ru-RU" sz="5600" b="1" dirty="0">
                <a:solidFill>
                  <a:schemeClr val="tx1">
                    <a:lumMod val="50000"/>
                  </a:schemeClr>
                </a:solidFill>
              </a:rPr>
              <a:t>Последствия:</a:t>
            </a:r>
            <a:r>
              <a:rPr lang="ru-RU" sz="5600" dirty="0">
                <a:solidFill>
                  <a:schemeClr val="tx1">
                    <a:lumMod val="50000"/>
                  </a:schemeClr>
                </a:solidFill>
              </a:rPr>
              <a:t/>
            </a:r>
            <a:br>
              <a:rPr lang="ru-RU" sz="5600" dirty="0">
                <a:solidFill>
                  <a:schemeClr val="tx1">
                    <a:lumMod val="50000"/>
                  </a:schemeClr>
                </a:solidFill>
              </a:rPr>
            </a:br>
            <a:r>
              <a:rPr lang="ru-RU" sz="5600" dirty="0">
                <a:solidFill>
                  <a:schemeClr val="tx1">
                    <a:lumMod val="50000"/>
                  </a:schemeClr>
                </a:solidFill>
              </a:rPr>
              <a:t>– крупные финансовые потери </a:t>
            </a:r>
            <a:r>
              <a:rPr lang="ru-RU" sz="5600" dirty="0" err="1">
                <a:solidFill>
                  <a:schemeClr val="tx1">
                    <a:lumMod val="50000"/>
                  </a:schemeClr>
                </a:solidFill>
              </a:rPr>
              <a:t>Sony</a:t>
            </a:r>
            <a:r>
              <a:rPr lang="ru-RU" sz="5600" dirty="0">
                <a:solidFill>
                  <a:schemeClr val="tx1">
                    <a:lumMod val="50000"/>
                  </a:schemeClr>
                </a:solidFill>
              </a:rPr>
              <a:t/>
            </a:r>
            <a:br>
              <a:rPr lang="ru-RU" sz="5600" dirty="0">
                <a:solidFill>
                  <a:schemeClr val="tx1">
                    <a:lumMod val="50000"/>
                  </a:schemeClr>
                </a:solidFill>
              </a:rPr>
            </a:br>
            <a:r>
              <a:rPr lang="ru-RU" sz="5600" dirty="0">
                <a:solidFill>
                  <a:schemeClr val="tx1">
                    <a:lumMod val="50000"/>
                  </a:schemeClr>
                </a:solidFill>
              </a:rPr>
              <a:t>– недовольство пользователей</a:t>
            </a:r>
            <a:br>
              <a:rPr lang="ru-RU" sz="5600" dirty="0">
                <a:solidFill>
                  <a:schemeClr val="tx1">
                    <a:lumMod val="50000"/>
                  </a:schemeClr>
                </a:solidFill>
              </a:rPr>
            </a:br>
            <a:r>
              <a:rPr lang="ru-RU" sz="5600" dirty="0">
                <a:solidFill>
                  <a:schemeClr val="tx1">
                    <a:lumMod val="50000"/>
                  </a:schemeClr>
                </a:solidFill>
              </a:rPr>
              <a:t>– компания усилила меры </a:t>
            </a:r>
            <a:r>
              <a:rPr lang="ru-RU" sz="5600" dirty="0" err="1">
                <a:solidFill>
                  <a:schemeClr val="tx1">
                    <a:lumMod val="50000"/>
                  </a:schemeClr>
                </a:solidFill>
              </a:rPr>
              <a:t>кибербезопасности</a:t>
            </a:r>
            <a:endParaRPr lang="ru-RU" sz="5600" dirty="0">
              <a:solidFill>
                <a:schemeClr val="tx1">
                  <a:lumMod val="50000"/>
                </a:schemeClr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92" name="Google Shape;92;p17" title="playstation-6689793_128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354500"/>
            <a:ext cx="4300851" cy="2470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ru-RU" sz="4800" b="1" dirty="0"/>
              <a:t>🔹 Вывод</a:t>
            </a:r>
            <a:endParaRPr lang="ru-RU" sz="4800" b="1" dirty="0"/>
          </a:p>
        </p:txBody>
      </p:sp>
      <p:sp>
        <p:nvSpPr>
          <p:cNvPr id="98" name="Google Shape;98;p18"/>
          <p:cNvSpPr txBox="1">
            <a:spLocks noGrp="1"/>
          </p:cNvSpPr>
          <p:nvPr>
            <p:ph type="body" idx="1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ru-RU" dirty="0" smtClean="0">
                <a:solidFill>
                  <a:schemeClr val="tx1">
                    <a:lumMod val="50000"/>
                  </a:schemeClr>
                </a:solidFill>
              </a:rPr>
              <a:t>В </a:t>
            </a:r>
            <a:r>
              <a:rPr lang="ru-RU" dirty="0">
                <a:solidFill>
                  <a:schemeClr val="tx1">
                    <a:lumMod val="50000"/>
                  </a:schemeClr>
                </a:solidFill>
              </a:rPr>
              <a:t>ходе презентации мы рассмотрели реальные случаи взлома таких крупных компаний, как </a:t>
            </a:r>
            <a:r>
              <a:rPr lang="ru-RU" b="1" dirty="0" err="1">
                <a:solidFill>
                  <a:schemeClr val="tx1">
                    <a:lumMod val="50000"/>
                  </a:schemeClr>
                </a:solidFill>
              </a:rPr>
              <a:t>Facebook</a:t>
            </a:r>
            <a:r>
              <a:rPr lang="ru-RU" b="1" dirty="0">
                <a:solidFill>
                  <a:schemeClr val="tx1">
                    <a:lumMod val="50000"/>
                  </a:schemeClr>
                </a:solidFill>
              </a:rPr>
              <a:t>, </a:t>
            </a:r>
            <a:r>
              <a:rPr lang="ru-RU" b="1" dirty="0" err="1">
                <a:solidFill>
                  <a:schemeClr val="tx1">
                    <a:lumMod val="50000"/>
                  </a:schemeClr>
                </a:solidFill>
              </a:rPr>
              <a:t>Yahoo</a:t>
            </a:r>
            <a:r>
              <a:rPr lang="ru-RU" b="1" dirty="0">
                <a:solidFill>
                  <a:schemeClr val="tx1">
                    <a:lumMod val="50000"/>
                  </a:schemeClr>
                </a:solidFill>
              </a:rPr>
              <a:t> и </a:t>
            </a:r>
            <a:r>
              <a:rPr lang="ru-RU" b="1" dirty="0" err="1">
                <a:solidFill>
                  <a:schemeClr val="tx1">
                    <a:lumMod val="50000"/>
                  </a:schemeClr>
                </a:solidFill>
              </a:rPr>
              <a:t>Sony</a:t>
            </a:r>
            <a:r>
              <a:rPr lang="ru-RU" dirty="0">
                <a:solidFill>
                  <a:schemeClr val="tx1">
                    <a:lumMod val="50000"/>
                  </a:schemeClr>
                </a:solidFill>
              </a:rPr>
              <a:t>.</a:t>
            </a:r>
            <a:br>
              <a:rPr lang="ru-RU" dirty="0">
                <a:solidFill>
                  <a:schemeClr val="tx1">
                    <a:lumMod val="50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50000"/>
                  </a:schemeClr>
                </a:solidFill>
              </a:rPr>
              <a:t>Эти примеры показывают, что </a:t>
            </a:r>
            <a:r>
              <a:rPr lang="ru-RU" b="1" dirty="0">
                <a:solidFill>
                  <a:schemeClr val="tx1">
                    <a:lumMod val="50000"/>
                  </a:schemeClr>
                </a:solidFill>
              </a:rPr>
              <a:t>даже большие и известные компании не защищены на 100% от </a:t>
            </a:r>
            <a:r>
              <a:rPr lang="ru-RU" b="1" dirty="0" err="1">
                <a:solidFill>
                  <a:schemeClr val="tx1">
                    <a:lumMod val="50000"/>
                  </a:schemeClr>
                </a:solidFill>
              </a:rPr>
              <a:t>кибератак</a:t>
            </a:r>
            <a:r>
              <a:rPr lang="ru-RU" dirty="0">
                <a:solidFill>
                  <a:schemeClr val="tx1">
                    <a:lumMod val="50000"/>
                  </a:schemeClr>
                </a:solidFill>
              </a:rPr>
              <a:t>.</a:t>
            </a:r>
          </a:p>
          <a:p>
            <a:r>
              <a:rPr lang="ru-RU" dirty="0">
                <a:solidFill>
                  <a:schemeClr val="tx1">
                    <a:lumMod val="50000"/>
                  </a:schemeClr>
                </a:solidFill>
              </a:rPr>
              <a:t>В результате взломов чаще всего страдают </a:t>
            </a:r>
            <a:r>
              <a:rPr lang="ru-RU" b="1" dirty="0">
                <a:solidFill>
                  <a:schemeClr val="tx1">
                    <a:lumMod val="50000"/>
                  </a:schemeClr>
                </a:solidFill>
              </a:rPr>
              <a:t>обычные пользователи</a:t>
            </a:r>
            <a:r>
              <a:rPr lang="ru-RU" dirty="0">
                <a:solidFill>
                  <a:schemeClr val="tx1">
                    <a:lumMod val="50000"/>
                  </a:schemeClr>
                </a:solidFill>
              </a:rPr>
              <a:t> — их личные данные, пароли и аккаунты.</a:t>
            </a:r>
            <a:br>
              <a:rPr lang="ru-RU" dirty="0">
                <a:solidFill>
                  <a:schemeClr val="tx1">
                    <a:lumMod val="50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50000"/>
                  </a:schemeClr>
                </a:solidFill>
              </a:rPr>
              <a:t>Основные причины таких инцидентов — </a:t>
            </a:r>
            <a:r>
              <a:rPr lang="ru-RU" b="1" dirty="0">
                <a:solidFill>
                  <a:schemeClr val="tx1">
                    <a:lumMod val="50000"/>
                  </a:schemeClr>
                </a:solidFill>
              </a:rPr>
              <a:t>уязвимости в системах безопасности, ошибки разработчиков и несвоевременные обновления</a:t>
            </a:r>
            <a:r>
              <a:rPr lang="ru-RU" dirty="0">
                <a:solidFill>
                  <a:schemeClr val="tx1">
                    <a:lumMod val="50000"/>
                  </a:schemeClr>
                </a:solidFill>
              </a:rPr>
              <a:t>.</a:t>
            </a:r>
          </a:p>
          <a:p>
            <a:r>
              <a:rPr lang="ru-RU" dirty="0">
                <a:solidFill>
                  <a:schemeClr val="tx1">
                    <a:lumMod val="50000"/>
                  </a:schemeClr>
                </a:solidFill>
              </a:rPr>
              <a:t>Поэтому </a:t>
            </a:r>
            <a:r>
              <a:rPr lang="ru-RU" dirty="0" err="1">
                <a:solidFill>
                  <a:schemeClr val="tx1">
                    <a:lumMod val="50000"/>
                  </a:schemeClr>
                </a:solidFill>
              </a:rPr>
              <a:t>кибербезопасность</a:t>
            </a:r>
            <a:r>
              <a:rPr lang="ru-RU" dirty="0">
                <a:solidFill>
                  <a:schemeClr val="tx1">
                    <a:lumMod val="50000"/>
                  </a:schemeClr>
                </a:solidFill>
              </a:rPr>
              <a:t> сегодня является </a:t>
            </a:r>
            <a:r>
              <a:rPr lang="ru-RU" b="1" dirty="0">
                <a:solidFill>
                  <a:schemeClr val="tx1">
                    <a:lumMod val="50000"/>
                  </a:schemeClr>
                </a:solidFill>
              </a:rPr>
              <a:t>одной из самых важных задач</a:t>
            </a:r>
            <a:r>
              <a:rPr lang="ru-RU" dirty="0">
                <a:solidFill>
                  <a:schemeClr val="tx1">
                    <a:lumMod val="50000"/>
                  </a:schemeClr>
                </a:solidFill>
              </a:rPr>
              <a:t>, как для компаний, так и для пользователей.</a:t>
            </a:r>
            <a:br>
              <a:rPr lang="ru-RU" dirty="0">
                <a:solidFill>
                  <a:schemeClr val="tx1">
                    <a:lumMod val="50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50000"/>
                  </a:schemeClr>
                </a:solidFill>
              </a:rPr>
              <a:t>Защита данных — это защита людей.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</Words>
  <Application>Microsoft Office PowerPoint</Application>
  <PresentationFormat>Экран (16:9)</PresentationFormat>
  <Paragraphs>22</Paragraphs>
  <Slides>5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Merriweather</vt:lpstr>
      <vt:lpstr>Roboto</vt:lpstr>
      <vt:lpstr>Paradigm</vt:lpstr>
      <vt:lpstr>Кейсы кибератак на компании</vt:lpstr>
      <vt:lpstr>Facebook (Meta) — 2021</vt:lpstr>
      <vt:lpstr>Yahoo — 2013–2014</vt:lpstr>
      <vt:lpstr>Sony PlayStation — 2011—</vt:lpstr>
      <vt:lpstr>🔹 Вывод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Кейсы кибератак на компании</dc:title>
  <cp:lastModifiedBy>user</cp:lastModifiedBy>
  <cp:revision>1</cp:revision>
  <dcterms:modified xsi:type="dcterms:W3CDTF">2025-12-19T10:16:22Z</dcterms:modified>
</cp:coreProperties>
</file>