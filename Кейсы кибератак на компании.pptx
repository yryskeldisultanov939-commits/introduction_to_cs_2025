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57" r:id="rId3"/>
    <p:sldId id="259" r:id="rId4"/>
    <p:sldId id="260" r:id="rId5"/>
    <p:sldId id="261" r:id="rId6"/>
  </p:sldIdLst>
  <p:sldSz cx="9144000" cy="5143500" type="screen16x9"/>
  <p:notesSz cx="6858000" cy="9144000"/>
  <p:embeddedFontLst>
    <p:embeddedFont>
      <p:font typeface="Merriweather" panose="020B0604020202020204" charset="-52"/>
      <p:regular r:id="rId8"/>
      <p:bold r:id="rId9"/>
      <p:italic r:id="rId10"/>
      <p:boldItalic r:id="rId11"/>
    </p:embeddedFont>
    <p:embeddedFont>
      <p:font typeface="Roboto" panose="020B0604020202020204" charset="0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58" autoAdjust="0"/>
    <p:restoredTop sz="94660"/>
  </p:normalViewPr>
  <p:slideViewPr>
    <p:cSldViewPr snapToGrid="0">
      <p:cViewPr>
        <p:scale>
          <a:sx n="75" d="100"/>
          <a:sy n="75" d="100"/>
        </p:scale>
        <p:origin x="1896" y="6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b1a00ced13_0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b1a00ced13_0_2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b1a00ced13_0_6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b1a00ced13_0_6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b1a00ced13_0_6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b1a00ced13_0_6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b1a00ced13_0_8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b1a00ced13_0_8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125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0" y="44125"/>
            <a:ext cx="4313625" cy="4399375"/>
          </a:xfrm>
          <a:custGeom>
            <a:avLst/>
            <a:gdLst/>
            <a:ahLst/>
            <a:cxnLst/>
            <a:rect l="l" t="t" r="r" b="b"/>
            <a:pathLst>
              <a:path w="172545" h="175975" extrusionOk="0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2" name="Google Shape;22;p4"/>
          <p:cNvSpPr/>
          <p:nvPr/>
        </p:nvSpPr>
        <p:spPr>
          <a:xfrm>
            <a:off x="-125" y="0"/>
            <a:ext cx="4316900" cy="4395600"/>
          </a:xfrm>
          <a:custGeom>
            <a:avLst/>
            <a:gdLst/>
            <a:ahLst/>
            <a:cxnLst/>
            <a:rect l="l" t="t" r="r" b="b"/>
            <a:pathLst>
              <a:path w="172676" h="175824" extrusionOk="0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3" name="Google Shape;23;p4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1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>
            <a:spLocks noGrp="1"/>
          </p:cNvSpPr>
          <p:nvPr>
            <p:ph type="ctrTitle"/>
          </p:nvPr>
        </p:nvSpPr>
        <p:spPr>
          <a:xfrm>
            <a:off x="510450" y="919675"/>
            <a:ext cx="8123100" cy="138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Кейсы кибератак на компании</a:t>
            </a:r>
            <a:endParaRPr dirty="0"/>
          </a:p>
        </p:txBody>
      </p:sp>
      <p:sp>
        <p:nvSpPr>
          <p:cNvPr id="65" name="Google Shape;65;p13"/>
          <p:cNvSpPr txBox="1">
            <a:spLocks noGrp="1"/>
          </p:cNvSpPr>
          <p:nvPr>
            <p:ph type="subTitle" idx="1"/>
          </p:nvPr>
        </p:nvSpPr>
        <p:spPr>
          <a:xfrm>
            <a:off x="329400" y="1609675"/>
            <a:ext cx="4242600" cy="7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25000" lnSpcReduction="2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" sz="7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•Выполнил: Султанов Ырыскелди CS – 11 -25</a:t>
            </a:r>
            <a:endParaRPr sz="7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" sz="7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•Тема: Реальные случаи взлома компаний</a:t>
            </a:r>
            <a:endParaRPr sz="7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1" name="Рисунок 3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398"/>
          <a:stretch>
            <a:fillRect/>
          </a:stretch>
        </p:blipFill>
        <p:spPr>
          <a:xfrm>
            <a:off x="2499360" y="1837026"/>
            <a:ext cx="6644640" cy="3306473"/>
          </a:xfrm>
          <a:custGeom>
            <a:avLst/>
            <a:gdLst>
              <a:gd name="connsiteX0" fmla="*/ 6531403 w 6688652"/>
              <a:gd name="connsiteY0" fmla="*/ 0 h 3328374"/>
              <a:gd name="connsiteX1" fmla="*/ 6688652 w 6688652"/>
              <a:gd name="connsiteY1" fmla="*/ 0 h 3328374"/>
              <a:gd name="connsiteX2" fmla="*/ 6688652 w 6688652"/>
              <a:gd name="connsiteY2" fmla="*/ 3320932 h 3328374"/>
              <a:gd name="connsiteX3" fmla="*/ 0 w 6688652"/>
              <a:gd name="connsiteY3" fmla="*/ 3328374 h 3328374"/>
              <a:gd name="connsiteX4" fmla="*/ 0 w 6688652"/>
              <a:gd name="connsiteY4" fmla="*/ 1867290 h 3328374"/>
              <a:gd name="connsiteX5" fmla="*/ 4501 w 6688652"/>
              <a:gd name="connsiteY5" fmla="*/ 1865939 h 3328374"/>
              <a:gd name="connsiteX6" fmla="*/ 988892 w 6688652"/>
              <a:gd name="connsiteY6" fmla="*/ 1570872 h 33283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88652" h="3328374">
                <a:moveTo>
                  <a:pt x="6531403" y="0"/>
                </a:moveTo>
                <a:lnTo>
                  <a:pt x="6688652" y="0"/>
                </a:lnTo>
                <a:lnTo>
                  <a:pt x="6688652" y="3320932"/>
                </a:lnTo>
                <a:lnTo>
                  <a:pt x="0" y="3328374"/>
                </a:lnTo>
                <a:lnTo>
                  <a:pt x="0" y="1867290"/>
                </a:lnTo>
                <a:lnTo>
                  <a:pt x="4501" y="1865939"/>
                </a:lnTo>
                <a:cubicBezTo>
                  <a:pt x="243746" y="1794161"/>
                  <a:pt x="562966" y="1698454"/>
                  <a:pt x="988892" y="1570872"/>
                </a:cubicBezTo>
                <a:close/>
              </a:path>
            </a:pathLst>
          </a:custGeom>
        </p:spPr>
      </p:pic>
      <p:pic>
        <p:nvPicPr>
          <p:cNvPr id="35" name="Рисунок 3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94"/>
          <a:stretch>
            <a:fillRect/>
          </a:stretch>
        </p:blipFill>
        <p:spPr>
          <a:xfrm>
            <a:off x="0" y="3684271"/>
            <a:ext cx="2499360" cy="1459229"/>
          </a:xfrm>
          <a:custGeom>
            <a:avLst/>
            <a:gdLst>
              <a:gd name="connsiteX0" fmla="*/ 2499360 w 2499360"/>
              <a:gd name="connsiteY0" fmla="*/ 0 h 1459229"/>
              <a:gd name="connsiteX1" fmla="*/ 2499360 w 2499360"/>
              <a:gd name="connsiteY1" fmla="*/ 1459229 h 1459229"/>
              <a:gd name="connsiteX2" fmla="*/ 0 w 2499360"/>
              <a:gd name="connsiteY2" fmla="*/ 1459229 h 1459229"/>
              <a:gd name="connsiteX3" fmla="*/ 0 w 2499360"/>
              <a:gd name="connsiteY3" fmla="*/ 708660 h 145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9360" h="1459229">
                <a:moveTo>
                  <a:pt x="2499360" y="0"/>
                </a:moveTo>
                <a:lnTo>
                  <a:pt x="2499360" y="1459229"/>
                </a:lnTo>
                <a:lnTo>
                  <a:pt x="0" y="1459229"/>
                </a:lnTo>
                <a:lnTo>
                  <a:pt x="0" y="708660"/>
                </a:lnTo>
                <a:close/>
              </a:path>
            </a:pathLst>
          </a:cu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>
            <a:spLocks noGrp="1"/>
          </p:cNvSpPr>
          <p:nvPr>
            <p:ph type="title"/>
          </p:nvPr>
        </p:nvSpPr>
        <p:spPr>
          <a:xfrm>
            <a:off x="222094" y="246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Facebook (Meta) — 2021</a:t>
            </a:r>
            <a:endParaRPr sz="2600" dirty="0"/>
          </a:p>
        </p:txBody>
      </p:sp>
      <p:sp>
        <p:nvSpPr>
          <p:cNvPr id="71" name="Google Shape;71;p14"/>
          <p:cNvSpPr txBox="1">
            <a:spLocks noGrp="1"/>
          </p:cNvSpPr>
          <p:nvPr>
            <p:ph type="body" idx="4294967295"/>
          </p:nvPr>
        </p:nvSpPr>
        <p:spPr>
          <a:xfrm>
            <a:off x="4482394" y="1274500"/>
            <a:ext cx="4661605" cy="386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sz="1100" b="1" dirty="0">
                <a:solidFill>
                  <a:schemeClr val="tx1">
                    <a:lumMod val="50000"/>
                  </a:schemeClr>
                </a:solidFill>
              </a:rPr>
              <a:t>Что произошло:</a:t>
            </a: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/>
            </a:r>
            <a:br>
              <a:rPr lang="ru-RU" sz="11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>В 2021 году у компании </a:t>
            </a:r>
            <a:r>
              <a:rPr lang="ru-RU" sz="1100" dirty="0" err="1">
                <a:solidFill>
                  <a:schemeClr val="tx1">
                    <a:lumMod val="50000"/>
                  </a:schemeClr>
                </a:solidFill>
              </a:rPr>
              <a:t>Facebook</a:t>
            </a: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> (сейчас </a:t>
            </a:r>
            <a:r>
              <a:rPr lang="ru-RU" sz="1100" dirty="0" err="1">
                <a:solidFill>
                  <a:schemeClr val="tx1">
                    <a:lumMod val="50000"/>
                  </a:schemeClr>
                </a:solidFill>
              </a:rPr>
              <a:t>Meta</a:t>
            </a: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>) произошла крупная утечка данных.</a:t>
            </a:r>
            <a:br>
              <a:rPr lang="ru-RU" sz="11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>Из-за уязвимости в системе поиска злоумышленники получили доступ к данным </a:t>
            </a:r>
            <a:r>
              <a:rPr lang="ru-RU" sz="1100" b="1" dirty="0">
                <a:solidFill>
                  <a:schemeClr val="tx1">
                    <a:lumMod val="50000"/>
                  </a:schemeClr>
                </a:solidFill>
              </a:rPr>
              <a:t>533 миллионов пользователей</a:t>
            </a: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>.</a:t>
            </a:r>
          </a:p>
          <a:p>
            <a:r>
              <a:rPr lang="ru-RU" sz="1100" b="1" dirty="0">
                <a:solidFill>
                  <a:schemeClr val="tx1">
                    <a:lumMod val="50000"/>
                  </a:schemeClr>
                </a:solidFill>
              </a:rPr>
              <a:t>Какие данные украли:</a:t>
            </a: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/>
            </a:r>
            <a:br>
              <a:rPr lang="ru-RU" sz="11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>– номера телефонов</a:t>
            </a:r>
            <a:br>
              <a:rPr lang="ru-RU" sz="11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>– </a:t>
            </a:r>
            <a:r>
              <a:rPr lang="ru-RU" sz="1100" dirty="0" err="1">
                <a:solidFill>
                  <a:schemeClr val="tx1">
                    <a:lumMod val="50000"/>
                  </a:schemeClr>
                </a:solidFill>
              </a:rPr>
              <a:t>email</a:t>
            </a: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>-адреса</a:t>
            </a:r>
            <a:br>
              <a:rPr lang="ru-RU" sz="11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>– имена и фамилии</a:t>
            </a:r>
            <a:br>
              <a:rPr lang="ru-RU" sz="11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>– даты рождения</a:t>
            </a:r>
          </a:p>
          <a:p>
            <a:r>
              <a:rPr lang="ru-RU" sz="1100" b="1" dirty="0">
                <a:solidFill>
                  <a:schemeClr val="tx1">
                    <a:lumMod val="50000"/>
                  </a:schemeClr>
                </a:solidFill>
              </a:rPr>
              <a:t>Кто пострадал:</a:t>
            </a: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/>
            </a:r>
            <a:br>
              <a:rPr lang="ru-RU" sz="11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>Пострадали </a:t>
            </a:r>
            <a:r>
              <a:rPr lang="ru-RU" sz="1100" b="1" dirty="0">
                <a:solidFill>
                  <a:schemeClr val="tx1">
                    <a:lumMod val="50000"/>
                  </a:schemeClr>
                </a:solidFill>
              </a:rPr>
              <a:t>обычные пользователи </a:t>
            </a:r>
            <a:r>
              <a:rPr lang="ru-RU" sz="1100" b="1" dirty="0" err="1">
                <a:solidFill>
                  <a:schemeClr val="tx1">
                    <a:lumMod val="50000"/>
                  </a:schemeClr>
                </a:solidFill>
              </a:rPr>
              <a:t>Facebook</a:t>
            </a: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> по всему миру.</a:t>
            </a:r>
            <a:br>
              <a:rPr lang="ru-RU" sz="11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>Многие начали получать мошеннические звонки, SMS и </a:t>
            </a:r>
            <a:r>
              <a:rPr lang="ru-RU" sz="1100" dirty="0" err="1">
                <a:solidFill>
                  <a:schemeClr val="tx1">
                    <a:lumMod val="50000"/>
                  </a:schemeClr>
                </a:solidFill>
              </a:rPr>
              <a:t>фишинговые</a:t>
            </a: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> письма.</a:t>
            </a:r>
          </a:p>
          <a:p>
            <a:r>
              <a:rPr lang="ru-RU" sz="1100" b="1" dirty="0">
                <a:solidFill>
                  <a:schemeClr val="tx1">
                    <a:lumMod val="50000"/>
                  </a:schemeClr>
                </a:solidFill>
              </a:rPr>
              <a:t>Последствия:</a:t>
            </a: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/>
            </a:r>
            <a:br>
              <a:rPr lang="ru-RU" sz="11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>– рост мошенничества</a:t>
            </a:r>
            <a:br>
              <a:rPr lang="ru-RU" sz="11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>– потеря доверия к компании</a:t>
            </a:r>
            <a:br>
              <a:rPr lang="ru-RU" sz="11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1100" dirty="0">
                <a:solidFill>
                  <a:schemeClr val="tx1">
                    <a:lumMod val="50000"/>
                  </a:schemeClr>
                </a:solidFill>
              </a:rPr>
              <a:t>– усиление внимания к защите данных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sz="1100" dirty="0"/>
          </a:p>
        </p:txBody>
      </p:sp>
      <p:pic>
        <p:nvPicPr>
          <p:cNvPr id="72" name="Google Shape;72;p14" title="Дизайн без названия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274500"/>
            <a:ext cx="4339901" cy="2169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3474720" y="0"/>
            <a:ext cx="5669280" cy="8780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Google Shape;83;p16"/>
          <p:cNvSpPr txBox="1">
            <a:spLocks noGrp="1"/>
          </p:cNvSpPr>
          <p:nvPr>
            <p:ph type="title"/>
          </p:nvPr>
        </p:nvSpPr>
        <p:spPr>
          <a:xfrm>
            <a:off x="3809099" y="0"/>
            <a:ext cx="5334900" cy="87800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Yahoo — 2013–2014</a:t>
            </a:r>
            <a:endParaRPr dirty="0"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1"/>
          </p:nvPr>
        </p:nvSpPr>
        <p:spPr>
          <a:xfrm>
            <a:off x="0" y="782319"/>
            <a:ext cx="4502100" cy="43611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32500" lnSpcReduction="20000"/>
          </a:bodyPr>
          <a:lstStyle/>
          <a:p>
            <a:r>
              <a:rPr lang="ru-RU" sz="4400" b="1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Что </a:t>
            </a:r>
            <a:r>
              <a:rPr lang="ru-RU" sz="4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произошло:</a:t>
            </a: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/>
            </a:r>
            <a:b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В 2013–2014 годах компания </a:t>
            </a:r>
            <a:r>
              <a:rPr lang="ru-RU" sz="44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Yahoo</a:t>
            </a: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подверглась крупнейшему взлому в истории интернета.</a:t>
            </a:r>
            <a:b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Были взломаны </a:t>
            </a:r>
            <a:r>
              <a:rPr lang="ru-RU" sz="4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около 3 миллиардов аккаунтов</a:t>
            </a: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.</a:t>
            </a:r>
          </a:p>
          <a:p>
            <a:r>
              <a:rPr lang="ru-RU" sz="4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Какие данные украли:</a:t>
            </a: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/>
            </a:r>
            <a:b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– </a:t>
            </a:r>
            <a:r>
              <a:rPr lang="ru-RU" sz="44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email</a:t>
            </a: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-адреса</a:t>
            </a:r>
            <a:b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– пароли</a:t>
            </a:r>
            <a:b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– секретные вопросы и ответы</a:t>
            </a:r>
          </a:p>
          <a:p>
            <a:r>
              <a:rPr lang="ru-RU" sz="4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Кто пострадал:</a:t>
            </a: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/>
            </a:r>
            <a:b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Пострадали </a:t>
            </a:r>
            <a:r>
              <a:rPr lang="ru-RU" sz="4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все пользователи </a:t>
            </a:r>
            <a:r>
              <a:rPr lang="ru-RU" sz="4400" b="1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Yahoo</a:t>
            </a: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, у которых были аккаунты в тот период.</a:t>
            </a:r>
            <a:b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Многие аккаунты позже были взломаны повторно на других сайтах.</a:t>
            </a:r>
          </a:p>
          <a:p>
            <a:r>
              <a:rPr lang="ru-RU" sz="4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Последствия:</a:t>
            </a: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/>
            </a:r>
            <a:b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– сильное падение репутации</a:t>
            </a:r>
            <a:b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– снижение стоимости компании</a:t>
            </a:r>
            <a:b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– </a:t>
            </a:r>
            <a:r>
              <a:rPr lang="ru-RU" sz="44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Yahoo</a:t>
            </a:r>
            <a:r>
              <a:rPr lang="ru-RU" sz="4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была продана дешевле, чем планировалось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sz="44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878009"/>
            <a:ext cx="2225176" cy="426549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Sony PlayStation — 2011—</a:t>
            </a:r>
            <a:endParaRPr sz="1700"/>
          </a:p>
        </p:txBody>
      </p:sp>
      <p:sp>
        <p:nvSpPr>
          <p:cNvPr id="91" name="Google Shape;91;p17"/>
          <p:cNvSpPr txBox="1">
            <a:spLocks noGrp="1"/>
          </p:cNvSpPr>
          <p:nvPr>
            <p:ph type="body" idx="1"/>
          </p:nvPr>
        </p:nvSpPr>
        <p:spPr>
          <a:xfrm>
            <a:off x="4612576" y="500925"/>
            <a:ext cx="4166400" cy="36138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25000" lnSpcReduction="20000"/>
          </a:bodyPr>
          <a:lstStyle/>
          <a:p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>В 2011 году хакеры взломали сеть </a:t>
            </a:r>
            <a:r>
              <a:rPr lang="ru-RU" sz="5600" dirty="0" err="1">
                <a:solidFill>
                  <a:schemeClr val="tx1">
                    <a:lumMod val="50000"/>
                  </a:schemeClr>
                </a:solidFill>
              </a:rPr>
              <a:t>PlayStation</a:t>
            </a: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ru-RU" sz="5600" dirty="0" err="1">
                <a:solidFill>
                  <a:schemeClr val="tx1">
                    <a:lumMod val="50000"/>
                  </a:schemeClr>
                </a:solidFill>
              </a:rPr>
              <a:t>Network</a:t>
            </a: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>.</a:t>
            </a:r>
            <a:br>
              <a:rPr lang="ru-RU" sz="56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>Доступ к сервису был отключён </a:t>
            </a:r>
            <a:r>
              <a:rPr lang="ru-RU" sz="5600" b="1" dirty="0">
                <a:solidFill>
                  <a:schemeClr val="tx1">
                    <a:lumMod val="50000"/>
                  </a:schemeClr>
                </a:solidFill>
              </a:rPr>
              <a:t>на 23 дня</a:t>
            </a: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>, а данные </a:t>
            </a:r>
            <a:r>
              <a:rPr lang="ru-RU" sz="5600" b="1" dirty="0">
                <a:solidFill>
                  <a:schemeClr val="tx1">
                    <a:lumMod val="50000"/>
                  </a:schemeClr>
                </a:solidFill>
              </a:rPr>
              <a:t>77 миллионов аккаунтов</a:t>
            </a: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> были украдены.</a:t>
            </a:r>
          </a:p>
          <a:p>
            <a:r>
              <a:rPr lang="ru-RU" sz="5600" b="1" dirty="0">
                <a:solidFill>
                  <a:schemeClr val="tx1">
                    <a:lumMod val="50000"/>
                  </a:schemeClr>
                </a:solidFill>
              </a:rPr>
              <a:t>Какие данные украли:</a:t>
            </a: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/>
            </a:r>
            <a:br>
              <a:rPr lang="ru-RU" sz="56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>– имена пользователей</a:t>
            </a:r>
            <a:br>
              <a:rPr lang="ru-RU" sz="56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>– пароли</a:t>
            </a:r>
            <a:br>
              <a:rPr lang="ru-RU" sz="56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>– </a:t>
            </a:r>
            <a:r>
              <a:rPr lang="ru-RU" sz="5600" dirty="0" err="1">
                <a:solidFill>
                  <a:schemeClr val="tx1">
                    <a:lumMod val="50000"/>
                  </a:schemeClr>
                </a:solidFill>
              </a:rPr>
              <a:t>email</a:t>
            </a: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>-адреса</a:t>
            </a:r>
            <a:br>
              <a:rPr lang="ru-RU" sz="56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>– данные аккаунтов </a:t>
            </a:r>
            <a:r>
              <a:rPr lang="ru-RU" sz="5600" dirty="0" err="1">
                <a:solidFill>
                  <a:schemeClr val="tx1">
                    <a:lumMod val="50000"/>
                  </a:schemeClr>
                </a:solidFill>
              </a:rPr>
              <a:t>PlayStation</a:t>
            </a:r>
            <a:endParaRPr lang="ru-RU" sz="5600" dirty="0">
              <a:solidFill>
                <a:schemeClr val="tx1">
                  <a:lumMod val="50000"/>
                </a:schemeClr>
              </a:solidFill>
            </a:endParaRPr>
          </a:p>
          <a:p>
            <a:r>
              <a:rPr lang="ru-RU" sz="5600" b="1" dirty="0">
                <a:solidFill>
                  <a:schemeClr val="tx1">
                    <a:lumMod val="50000"/>
                  </a:schemeClr>
                </a:solidFill>
              </a:rPr>
              <a:t>Кто пострадал:</a:t>
            </a: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/>
            </a:r>
            <a:br>
              <a:rPr lang="ru-RU" sz="56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>Пострадали </a:t>
            </a:r>
            <a:r>
              <a:rPr lang="ru-RU" sz="5600" b="1" dirty="0">
                <a:solidFill>
                  <a:schemeClr val="tx1">
                    <a:lumMod val="50000"/>
                  </a:schemeClr>
                </a:solidFill>
              </a:rPr>
              <a:t>игроки </a:t>
            </a:r>
            <a:r>
              <a:rPr lang="ru-RU" sz="5600" b="1" dirty="0" err="1">
                <a:solidFill>
                  <a:schemeClr val="tx1">
                    <a:lumMod val="50000"/>
                  </a:schemeClr>
                </a:solidFill>
              </a:rPr>
              <a:t>PlayStation</a:t>
            </a: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> по всему миру.</a:t>
            </a:r>
            <a:br>
              <a:rPr lang="ru-RU" sz="56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>Люди не могли играть онлайн и боялись за безопасность своих данных.</a:t>
            </a:r>
          </a:p>
          <a:p>
            <a:r>
              <a:rPr lang="ru-RU" sz="5600" b="1" dirty="0">
                <a:solidFill>
                  <a:schemeClr val="tx1">
                    <a:lumMod val="50000"/>
                  </a:schemeClr>
                </a:solidFill>
              </a:rPr>
              <a:t>Последствия:</a:t>
            </a: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/>
            </a:r>
            <a:br>
              <a:rPr lang="ru-RU" sz="56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>– крупные финансовые потери </a:t>
            </a:r>
            <a:r>
              <a:rPr lang="ru-RU" sz="5600" dirty="0" err="1">
                <a:solidFill>
                  <a:schemeClr val="tx1">
                    <a:lumMod val="50000"/>
                  </a:schemeClr>
                </a:solidFill>
              </a:rPr>
              <a:t>Sony</a:t>
            </a: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/>
            </a:r>
            <a:br>
              <a:rPr lang="ru-RU" sz="56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>– недовольство пользователей</a:t>
            </a:r>
            <a:br>
              <a:rPr lang="ru-RU" sz="56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sz="5600" dirty="0">
                <a:solidFill>
                  <a:schemeClr val="tx1">
                    <a:lumMod val="50000"/>
                  </a:schemeClr>
                </a:solidFill>
              </a:rPr>
              <a:t>– компания усилила меры </a:t>
            </a:r>
            <a:r>
              <a:rPr lang="ru-RU" sz="5600" dirty="0" err="1">
                <a:solidFill>
                  <a:schemeClr val="tx1">
                    <a:lumMod val="50000"/>
                  </a:schemeClr>
                </a:solidFill>
              </a:rPr>
              <a:t>кибербезопасности</a:t>
            </a:r>
            <a:endParaRPr lang="ru-RU" sz="5600" dirty="0">
              <a:solidFill>
                <a:schemeClr val="tx1">
                  <a:lumMod val="50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92" name="Google Shape;92;p17" title="playstation-6689793_1280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354500"/>
            <a:ext cx="4300851" cy="2470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ru-RU" sz="4800" b="1" dirty="0"/>
              <a:t>🔹 Вывод</a:t>
            </a:r>
            <a:endParaRPr lang="ru-RU" sz="4800" b="1" dirty="0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ru-RU" dirty="0" smtClean="0">
                <a:solidFill>
                  <a:schemeClr val="tx1">
                    <a:lumMod val="50000"/>
                  </a:schemeClr>
                </a:solidFill>
              </a:rPr>
              <a:t>В </a:t>
            </a:r>
            <a:r>
              <a:rPr lang="ru-RU" dirty="0">
                <a:solidFill>
                  <a:schemeClr val="tx1">
                    <a:lumMod val="50000"/>
                  </a:schemeClr>
                </a:solidFill>
              </a:rPr>
              <a:t>ходе презентации мы рассмотрели реальные случаи взлома таких крупных компаний, как </a:t>
            </a:r>
            <a:r>
              <a:rPr lang="ru-RU" b="1" dirty="0" err="1">
                <a:solidFill>
                  <a:schemeClr val="tx1">
                    <a:lumMod val="50000"/>
                  </a:schemeClr>
                </a:solidFill>
              </a:rPr>
              <a:t>Facebook</a:t>
            </a:r>
            <a:r>
              <a:rPr lang="ru-RU" b="1" dirty="0">
                <a:solidFill>
                  <a:schemeClr val="tx1">
                    <a:lumMod val="50000"/>
                  </a:schemeClr>
                </a:solidFill>
              </a:rPr>
              <a:t>, </a:t>
            </a:r>
            <a:r>
              <a:rPr lang="ru-RU" b="1" dirty="0" err="1">
                <a:solidFill>
                  <a:schemeClr val="tx1">
                    <a:lumMod val="50000"/>
                  </a:schemeClr>
                </a:solidFill>
              </a:rPr>
              <a:t>Yahoo</a:t>
            </a:r>
            <a:r>
              <a:rPr lang="ru-RU" b="1" dirty="0">
                <a:solidFill>
                  <a:schemeClr val="tx1">
                    <a:lumMod val="50000"/>
                  </a:schemeClr>
                </a:solidFill>
              </a:rPr>
              <a:t> и </a:t>
            </a:r>
            <a:r>
              <a:rPr lang="ru-RU" b="1" dirty="0" err="1">
                <a:solidFill>
                  <a:schemeClr val="tx1">
                    <a:lumMod val="50000"/>
                  </a:schemeClr>
                </a:solidFill>
              </a:rPr>
              <a:t>Sony</a:t>
            </a:r>
            <a:r>
              <a:rPr lang="ru-RU" dirty="0">
                <a:solidFill>
                  <a:schemeClr val="tx1">
                    <a:lumMod val="50000"/>
                  </a:schemeClr>
                </a:solidFill>
              </a:rPr>
              <a:t>.</a:t>
            </a:r>
            <a:br>
              <a:rPr lang="ru-RU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dirty="0">
                <a:solidFill>
                  <a:schemeClr val="tx1">
                    <a:lumMod val="50000"/>
                  </a:schemeClr>
                </a:solidFill>
              </a:rPr>
              <a:t>Эти примеры показывают, что </a:t>
            </a:r>
            <a:r>
              <a:rPr lang="ru-RU" b="1" dirty="0">
                <a:solidFill>
                  <a:schemeClr val="tx1">
                    <a:lumMod val="50000"/>
                  </a:schemeClr>
                </a:solidFill>
              </a:rPr>
              <a:t>даже большие и известные компании не защищены на 100% от </a:t>
            </a:r>
            <a:r>
              <a:rPr lang="ru-RU" b="1" dirty="0" err="1">
                <a:solidFill>
                  <a:schemeClr val="tx1">
                    <a:lumMod val="50000"/>
                  </a:schemeClr>
                </a:solidFill>
              </a:rPr>
              <a:t>кибератак</a:t>
            </a:r>
            <a:r>
              <a:rPr lang="ru-RU" dirty="0">
                <a:solidFill>
                  <a:schemeClr val="tx1">
                    <a:lumMod val="50000"/>
                  </a:schemeClr>
                </a:solidFill>
              </a:rPr>
              <a:t>.</a:t>
            </a:r>
          </a:p>
          <a:p>
            <a:r>
              <a:rPr lang="ru-RU" dirty="0">
                <a:solidFill>
                  <a:schemeClr val="tx1">
                    <a:lumMod val="50000"/>
                  </a:schemeClr>
                </a:solidFill>
              </a:rPr>
              <a:t>В результате взломов чаще всего страдают </a:t>
            </a:r>
            <a:r>
              <a:rPr lang="ru-RU" b="1" dirty="0">
                <a:solidFill>
                  <a:schemeClr val="tx1">
                    <a:lumMod val="50000"/>
                  </a:schemeClr>
                </a:solidFill>
              </a:rPr>
              <a:t>обычные пользователи</a:t>
            </a:r>
            <a:r>
              <a:rPr lang="ru-RU" dirty="0">
                <a:solidFill>
                  <a:schemeClr val="tx1">
                    <a:lumMod val="50000"/>
                  </a:schemeClr>
                </a:solidFill>
              </a:rPr>
              <a:t> — их личные данные, пароли и аккаунты.</a:t>
            </a:r>
            <a:br>
              <a:rPr lang="ru-RU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dirty="0">
                <a:solidFill>
                  <a:schemeClr val="tx1">
                    <a:lumMod val="50000"/>
                  </a:schemeClr>
                </a:solidFill>
              </a:rPr>
              <a:t>Основные причины таких инцидентов — </a:t>
            </a:r>
            <a:r>
              <a:rPr lang="ru-RU" b="1" dirty="0">
                <a:solidFill>
                  <a:schemeClr val="tx1">
                    <a:lumMod val="50000"/>
                  </a:schemeClr>
                </a:solidFill>
              </a:rPr>
              <a:t>уязвимости в системах безопасности, ошибки разработчиков и несвоевременные обновления</a:t>
            </a:r>
            <a:r>
              <a:rPr lang="ru-RU" dirty="0">
                <a:solidFill>
                  <a:schemeClr val="tx1">
                    <a:lumMod val="50000"/>
                  </a:schemeClr>
                </a:solidFill>
              </a:rPr>
              <a:t>.</a:t>
            </a:r>
          </a:p>
          <a:p>
            <a:r>
              <a:rPr lang="ru-RU" dirty="0">
                <a:solidFill>
                  <a:schemeClr val="tx1">
                    <a:lumMod val="50000"/>
                  </a:schemeClr>
                </a:solidFill>
              </a:rPr>
              <a:t>Поэтому </a:t>
            </a:r>
            <a:r>
              <a:rPr lang="ru-RU" dirty="0" err="1">
                <a:solidFill>
                  <a:schemeClr val="tx1">
                    <a:lumMod val="50000"/>
                  </a:schemeClr>
                </a:solidFill>
              </a:rPr>
              <a:t>кибербезопасность</a:t>
            </a:r>
            <a:r>
              <a:rPr lang="ru-RU" dirty="0">
                <a:solidFill>
                  <a:schemeClr val="tx1">
                    <a:lumMod val="50000"/>
                  </a:schemeClr>
                </a:solidFill>
              </a:rPr>
              <a:t> сегодня является </a:t>
            </a:r>
            <a:r>
              <a:rPr lang="ru-RU" b="1" dirty="0">
                <a:solidFill>
                  <a:schemeClr val="tx1">
                    <a:lumMod val="50000"/>
                  </a:schemeClr>
                </a:solidFill>
              </a:rPr>
              <a:t>одной из самых важных задач</a:t>
            </a:r>
            <a:r>
              <a:rPr lang="ru-RU" dirty="0">
                <a:solidFill>
                  <a:schemeClr val="tx1">
                    <a:lumMod val="50000"/>
                  </a:schemeClr>
                </a:solidFill>
              </a:rPr>
              <a:t>, как для компаний, так и для пользователей.</a:t>
            </a:r>
            <a:br>
              <a:rPr lang="ru-RU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ru-RU" dirty="0">
                <a:solidFill>
                  <a:schemeClr val="tx1">
                    <a:lumMod val="50000"/>
                  </a:schemeClr>
                </a:solidFill>
              </a:rPr>
              <a:t>Защита данных — это защита людей.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5439"/>
            <a:ext cx="4318000" cy="367806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</TotalTime>
  <Words>71</Words>
  <Application>Microsoft Office PowerPoint</Application>
  <PresentationFormat>Экран (16:9)</PresentationFormat>
  <Paragraphs>22</Paragraphs>
  <Slides>5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9" baseType="lpstr">
      <vt:lpstr>Arial</vt:lpstr>
      <vt:lpstr>Merriweather</vt:lpstr>
      <vt:lpstr>Roboto</vt:lpstr>
      <vt:lpstr>Paradigm</vt:lpstr>
      <vt:lpstr>Кейсы кибератак на компании</vt:lpstr>
      <vt:lpstr>Facebook (Meta) — 2021</vt:lpstr>
      <vt:lpstr>Yahoo — 2013–2014</vt:lpstr>
      <vt:lpstr>Sony PlayStation — 2011—</vt:lpstr>
      <vt:lpstr>🔹 Вывод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Кейсы кибератак на компании</dc:title>
  <cp:lastModifiedBy>user</cp:lastModifiedBy>
  <cp:revision>4</cp:revision>
  <dcterms:modified xsi:type="dcterms:W3CDTF">2025-12-19T15:02:48Z</dcterms:modified>
</cp:coreProperties>
</file>